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1" r:id="rId7"/>
    <p:sldId id="260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D82"/>
    <a:srgbClr val="1827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Haustein" userId="2449f22f7128ebcc" providerId="LiveId" clId="{5ED12638-68BE-442B-B58B-5EC9C4DF6A52}"/>
    <pc:docChg chg="undo custSel modSld">
      <pc:chgData name="Kyle Haustein" userId="2449f22f7128ebcc" providerId="LiveId" clId="{5ED12638-68BE-442B-B58B-5EC9C4DF6A52}" dt="2026-08-14T09:11:35.578" v="33" actId="1076"/>
      <pc:docMkLst>
        <pc:docMk/>
      </pc:docMkLst>
      <pc:sldChg chg="modSp mod">
        <pc:chgData name="Kyle Haustein" userId="2449f22f7128ebcc" providerId="LiveId" clId="{5ED12638-68BE-442B-B58B-5EC9C4DF6A52}" dt="2026-08-14T09:11:35.578" v="33" actId="1076"/>
        <pc:sldMkLst>
          <pc:docMk/>
          <pc:sldMk cId="0" sldId="260"/>
        </pc:sldMkLst>
        <pc:spChg chg="mod">
          <ac:chgData name="Kyle Haustein" userId="2449f22f7128ebcc" providerId="LiveId" clId="{5ED12638-68BE-442B-B58B-5EC9C4DF6A52}" dt="2026-08-14T09:11:35.578" v="33" actId="1076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Kyle Haustein" userId="2449f22f7128ebcc" providerId="LiveId" clId="{5ED12638-68BE-442B-B58B-5EC9C4DF6A52}" dt="2026-08-14T06:50:43.478" v="32" actId="14100"/>
        <pc:sldMkLst>
          <pc:docMk/>
          <pc:sldMk cId="0" sldId="262"/>
        </pc:sldMkLst>
        <pc:spChg chg="mod">
          <ac:chgData name="Kyle Haustein" userId="2449f22f7128ebcc" providerId="LiveId" clId="{5ED12638-68BE-442B-B58B-5EC9C4DF6A52}" dt="2026-08-14T06:50:43.478" v="32" actId="14100"/>
          <ac:spMkLst>
            <pc:docMk/>
            <pc:sldMk cId="0" sldId="262"/>
            <ac:spMk id="38" creationId="{00000000-0000-0000-0000-000000000000}"/>
          </ac:spMkLst>
        </pc:spChg>
      </pc:sldChg>
      <pc:sldChg chg="delSp modSp mod">
        <pc:chgData name="Kyle Haustein" userId="2449f22f7128ebcc" providerId="LiveId" clId="{5ED12638-68BE-442B-B58B-5EC9C4DF6A52}" dt="2026-08-14T06:49:19.281" v="31" actId="14100"/>
        <pc:sldMkLst>
          <pc:docMk/>
          <pc:sldMk cId="679326677" sldId="266"/>
        </pc:sldMkLst>
        <pc:spChg chg="del">
          <ac:chgData name="Kyle Haustein" userId="2449f22f7128ebcc" providerId="LiveId" clId="{5ED12638-68BE-442B-B58B-5EC9C4DF6A52}" dt="2026-08-14T06:47:54.050" v="13" actId="478"/>
          <ac:spMkLst>
            <pc:docMk/>
            <pc:sldMk cId="679326677" sldId="266"/>
            <ac:spMk id="6" creationId="{2ADD9DC2-3BEE-FAC0-9163-22E510EC4827}"/>
          </ac:spMkLst>
        </pc:spChg>
        <pc:spChg chg="mod">
          <ac:chgData name="Kyle Haustein" userId="2449f22f7128ebcc" providerId="LiveId" clId="{5ED12638-68BE-442B-B58B-5EC9C4DF6A52}" dt="2026-08-14T06:47:52.124" v="12" actId="1076"/>
          <ac:spMkLst>
            <pc:docMk/>
            <pc:sldMk cId="679326677" sldId="266"/>
            <ac:spMk id="7" creationId="{D3EE5F5C-3851-F6D9-CC6C-4C216E028757}"/>
          </ac:spMkLst>
        </pc:spChg>
        <pc:spChg chg="mod">
          <ac:chgData name="Kyle Haustein" userId="2449f22f7128ebcc" providerId="LiveId" clId="{5ED12638-68BE-442B-B58B-5EC9C4DF6A52}" dt="2026-08-14T06:48:05.418" v="17" actId="14100"/>
          <ac:spMkLst>
            <pc:docMk/>
            <pc:sldMk cId="679326677" sldId="266"/>
            <ac:spMk id="9" creationId="{DEE3081D-B3CE-4228-B285-5BAAE184991D}"/>
          </ac:spMkLst>
        </pc:spChg>
        <pc:spChg chg="del">
          <ac:chgData name="Kyle Haustein" userId="2449f22f7128ebcc" providerId="LiveId" clId="{5ED12638-68BE-442B-B58B-5EC9C4DF6A52}" dt="2026-08-14T06:47:56.685" v="14" actId="478"/>
          <ac:spMkLst>
            <pc:docMk/>
            <pc:sldMk cId="679326677" sldId="266"/>
            <ac:spMk id="10" creationId="{CBB883C5-16D5-F3FB-623F-29CFB3AF2814}"/>
          </ac:spMkLst>
        </pc:spChg>
        <pc:spChg chg="mod">
          <ac:chgData name="Kyle Haustein" userId="2449f22f7128ebcc" providerId="LiveId" clId="{5ED12638-68BE-442B-B58B-5EC9C4DF6A52}" dt="2026-08-14T06:47:28.443" v="8" actId="1076"/>
          <ac:spMkLst>
            <pc:docMk/>
            <pc:sldMk cId="679326677" sldId="266"/>
            <ac:spMk id="11" creationId="{A5E90527-A95B-2DC8-FCA6-AF5279950656}"/>
          </ac:spMkLst>
        </pc:spChg>
        <pc:spChg chg="del">
          <ac:chgData name="Kyle Haustein" userId="2449f22f7128ebcc" providerId="LiveId" clId="{5ED12638-68BE-442B-B58B-5EC9C4DF6A52}" dt="2026-08-14T06:47:59.337" v="15" actId="478"/>
          <ac:spMkLst>
            <pc:docMk/>
            <pc:sldMk cId="679326677" sldId="266"/>
            <ac:spMk id="14" creationId="{0EE8D648-C28F-1A5F-7AA0-1740C89615AB}"/>
          </ac:spMkLst>
        </pc:spChg>
        <pc:spChg chg="mod">
          <ac:chgData name="Kyle Haustein" userId="2449f22f7128ebcc" providerId="LiveId" clId="{5ED12638-68BE-442B-B58B-5EC9C4DF6A52}" dt="2026-08-14T06:47:38.595" v="9" actId="1076"/>
          <ac:spMkLst>
            <pc:docMk/>
            <pc:sldMk cId="679326677" sldId="266"/>
            <ac:spMk id="15" creationId="{E4998D12-8E28-4A43-CE89-6B95EF9276C3}"/>
          </ac:spMkLst>
        </pc:spChg>
        <pc:spChg chg="del">
          <ac:chgData name="Kyle Haustein" userId="2449f22f7128ebcc" providerId="LiveId" clId="{5ED12638-68BE-442B-B58B-5EC9C4DF6A52}" dt="2026-08-14T06:48:23.792" v="22" actId="478"/>
          <ac:spMkLst>
            <pc:docMk/>
            <pc:sldMk cId="679326677" sldId="266"/>
            <ac:spMk id="23" creationId="{E0F1D9FB-A8B9-4E9F-642B-D0DE5FEFE16F}"/>
          </ac:spMkLst>
        </pc:spChg>
        <pc:spChg chg="del">
          <ac:chgData name="Kyle Haustein" userId="2449f22f7128ebcc" providerId="LiveId" clId="{5ED12638-68BE-442B-B58B-5EC9C4DF6A52}" dt="2026-08-14T06:48:34.120" v="25" actId="478"/>
          <ac:spMkLst>
            <pc:docMk/>
            <pc:sldMk cId="679326677" sldId="266"/>
            <ac:spMk id="31" creationId="{5F72BC41-70AB-ADE1-F5DC-C82D5DD10BE0}"/>
          </ac:spMkLst>
        </pc:spChg>
        <pc:picChg chg="mod">
          <ac:chgData name="Kyle Haustein" userId="2449f22f7128ebcc" providerId="LiveId" clId="{5ED12638-68BE-442B-B58B-5EC9C4DF6A52}" dt="2026-08-14T06:48:31.383" v="24" actId="14100"/>
          <ac:picMkLst>
            <pc:docMk/>
            <pc:sldMk cId="679326677" sldId="266"/>
            <ac:picMk id="21" creationId="{8CB298AF-C8E9-B7A6-C9D1-C4A23E2333FF}"/>
          </ac:picMkLst>
        </pc:picChg>
        <pc:picChg chg="mod">
          <ac:chgData name="Kyle Haustein" userId="2449f22f7128ebcc" providerId="LiveId" clId="{5ED12638-68BE-442B-B58B-5EC9C4DF6A52}" dt="2026-08-14T06:48:13.107" v="19" actId="14100"/>
          <ac:picMkLst>
            <pc:docMk/>
            <pc:sldMk cId="679326677" sldId="266"/>
            <ac:picMk id="33" creationId="{9A610D21-96A5-CC66-D817-CABE04BB23E3}"/>
          </ac:picMkLst>
        </pc:picChg>
        <pc:picChg chg="mod">
          <ac:chgData name="Kyle Haustein" userId="2449f22f7128ebcc" providerId="LiveId" clId="{5ED12638-68BE-442B-B58B-5EC9C4DF6A52}" dt="2026-08-14T06:48:21.088" v="21" actId="14100"/>
          <ac:picMkLst>
            <pc:docMk/>
            <pc:sldMk cId="679326677" sldId="266"/>
            <ac:picMk id="35" creationId="{0D3C1CD4-154D-3767-15A3-42D5F1F99C04}"/>
          </ac:picMkLst>
        </pc:picChg>
        <pc:picChg chg="mod">
          <ac:chgData name="Kyle Haustein" userId="2449f22f7128ebcc" providerId="LiveId" clId="{5ED12638-68BE-442B-B58B-5EC9C4DF6A52}" dt="2026-08-14T06:49:19.281" v="31" actId="14100"/>
          <ac:picMkLst>
            <pc:docMk/>
            <pc:sldMk cId="679326677" sldId="266"/>
            <ac:picMk id="37" creationId="{812E130D-0DD6-6B43-6113-54655E6C4FA3}"/>
          </ac:picMkLst>
        </pc:picChg>
        <pc:picChg chg="mod">
          <ac:chgData name="Kyle Haustein" userId="2449f22f7128ebcc" providerId="LiveId" clId="{5ED12638-68BE-442B-B58B-5EC9C4DF6A52}" dt="2026-08-14T06:48:43.075" v="27" actId="14100"/>
          <ac:picMkLst>
            <pc:docMk/>
            <pc:sldMk cId="679326677" sldId="266"/>
            <ac:picMk id="39" creationId="{A31A0DB4-B2E2-C304-63F1-D0073AFACFFD}"/>
          </ac:picMkLst>
        </pc:picChg>
        <pc:picChg chg="del">
          <ac:chgData name="Kyle Haustein" userId="2449f22f7128ebcc" providerId="LiveId" clId="{5ED12638-68BE-442B-B58B-5EC9C4DF6A52}" dt="2026-08-14T06:48:45.424" v="28" actId="478"/>
          <ac:picMkLst>
            <pc:docMk/>
            <pc:sldMk cId="679326677" sldId="266"/>
            <ac:picMk id="45" creationId="{40C73CC9-3E73-3960-B53A-DD7A8034C9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63961"/>
            <a:ext cx="6400800" cy="70788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Aptos"/>
              </a:rPr>
              <a:t>GrantScope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965960"/>
            <a:ext cx="58064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300" b="0" dirty="0">
                <a:solidFill>
                  <a:srgbClr val="FFFFFF"/>
                </a:solidFill>
                <a:latin typeface="Aptos"/>
              </a:rPr>
              <a:t>From a research idea to the funded research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3063240"/>
            <a:ext cx="1051560" cy="73152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333756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E1E5EF"/>
                </a:solidFill>
                <a:latin typeface="Aptos"/>
              </a:rPr>
              <a:t>Scientific funding landscape analysis
+ interpretable research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325880"/>
            <a:ext cx="4069080" cy="932688"/>
          </a:xfrm>
          <a:prstGeom prst="roundRect">
            <a:avLst/>
          </a:prstGeom>
          <a:solidFill>
            <a:srgbClr val="25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1463039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Funding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01368"/>
            <a:ext cx="352044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1E5EF"/>
                </a:solidFill>
                <a:latin typeface="Aptos"/>
              </a:rPr>
              <a:t>Explore trends, topics, programmes and organisations.</a:t>
            </a:r>
          </a:p>
        </p:txBody>
      </p:sp>
      <p:sp>
        <p:nvSpPr>
          <p:cNvPr id="9" name="Oval 8"/>
          <p:cNvSpPr/>
          <p:nvPr/>
        </p:nvSpPr>
        <p:spPr>
          <a:xfrm>
            <a:off x="6720840" y="1554480"/>
            <a:ext cx="457200" cy="457200"/>
          </a:xfrm>
          <a:prstGeom prst="ellipse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6276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743200"/>
            <a:ext cx="4069080" cy="932688"/>
          </a:xfrm>
          <a:prstGeom prst="roundRect">
            <a:avLst/>
          </a:prstGeom>
          <a:solidFill>
            <a:srgbClr val="25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28803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Research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18688"/>
            <a:ext cx="352044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1E5EF"/>
                </a:solidFill>
                <a:latin typeface="Aptos"/>
              </a:rPr>
              <a:t>Enter a concept and retrieve comparable funded projects.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2971800"/>
            <a:ext cx="457200" cy="457200"/>
          </a:xfrm>
          <a:prstGeom prst="ellipse">
            <a:avLst/>
          </a:prstGeom>
          <a:solidFill>
            <a:srgbClr val="947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04495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4160520"/>
            <a:ext cx="4069080" cy="932688"/>
          </a:xfrm>
          <a:prstGeom prst="roundRect">
            <a:avLst/>
          </a:prstGeom>
          <a:solidFill>
            <a:srgbClr val="25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42976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Decision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636008"/>
            <a:ext cx="352044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1E5EF"/>
                </a:solidFill>
                <a:latin typeface="Aptos"/>
              </a:rPr>
              <a:t>Turn ranked matches into useful starting points.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4389120"/>
            <a:ext cx="457200" cy="457200"/>
          </a:xfrm>
          <a:prstGeom prst="ellipse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44622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9893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Kyle Haustein • </a:t>
            </a:r>
            <a:r>
              <a:rPr sz="1200" b="1" dirty="0" err="1">
                <a:solidFill>
                  <a:srgbClr val="FFFFFF"/>
                </a:solidFill>
                <a:latin typeface="Aptos"/>
              </a:rPr>
              <a:t>Ironhack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 Data Analytics Bootcamp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82745"/>
                </a:solidFill>
                <a:latin typeface="Aptos"/>
              </a:rPr>
              <a:t>Why I Built GrantScope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636D82"/>
                </a:solidFill>
                <a:latin typeface="Aptos"/>
              </a:rPr>
              <a:t>A final project designed around the kind of scientific-data work I want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2688" y="20116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212848"/>
            <a:ext cx="2898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1  Scientific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06624"/>
            <a:ext cx="2898648" cy="23317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Chemistry and research gave me a user perspective on how researchers explore projects, literature and funding.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2880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17720" y="201168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2212848"/>
            <a:ext cx="2898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2  New technical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706624"/>
            <a:ext cx="2898648" cy="23317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The bootcamp added Python, data integration, visualization, machine learning/NLP and app development.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2880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2011680"/>
            <a:ext cx="502920" cy="109728"/>
          </a:xfrm>
          <a:prstGeom prst="roundRect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212848"/>
            <a:ext cx="2898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3  Future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26208"/>
            <a:ext cx="2898648" cy="8925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I wanted to combine both into a realistic scientific-data and AI decision-support product</a:t>
            </a:r>
            <a:r>
              <a:rPr lang="en-US" sz="1300" b="0" dirty="0">
                <a:solidFill>
                  <a:srgbClr val="1E2739"/>
                </a:solidFill>
                <a:latin typeface="Aptos"/>
              </a:rPr>
              <a:t>, </a:t>
            </a:r>
            <a:r>
              <a:rPr sz="1300" b="0" dirty="0">
                <a:solidFill>
                  <a:srgbClr val="1E2739"/>
                </a:solidFill>
                <a:latin typeface="Aptos"/>
              </a:rPr>
              <a:t>not a generic classroom exercise.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623560"/>
            <a:ext cx="63093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9232" y="5650992"/>
            <a:ext cx="616305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Project choice = past expertise + new skills + 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17912-CAA8-15B7-35CB-C8717318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A31A0DB4-B2E2-C304-63F1-D0073AFAC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647" y="4666281"/>
            <a:ext cx="2414225" cy="67297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D3C1CD4-154D-3767-15A3-42D5F1F99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2" y="2602940"/>
            <a:ext cx="2414225" cy="6729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A610D21-96A5-CC66-D817-CABE04BB2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85" y="2543502"/>
            <a:ext cx="2414225" cy="7324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20382D-28C8-6372-B07F-20353BFE159D}"/>
              </a:ext>
            </a:extLst>
          </p:cNvPr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2700" b="1" dirty="0">
                <a:solidFill>
                  <a:srgbClr val="182745"/>
                </a:solidFill>
                <a:latin typeface="Aptos"/>
              </a:rPr>
              <a:t>Where does GrantScope fit?</a:t>
            </a:r>
            <a:endParaRPr sz="2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7299BC-F6DD-494D-CE22-B7DC9E9C0E5E}"/>
              </a:ext>
            </a:extLst>
          </p:cNvPr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1C429-4F0D-24A7-E279-2DDE2D41EC05}"/>
              </a:ext>
            </a:extLst>
          </p:cNvPr>
          <p:cNvSpPr txBox="1"/>
          <p:nvPr/>
        </p:nvSpPr>
        <p:spPr>
          <a:xfrm>
            <a:off x="658368" y="1129909"/>
            <a:ext cx="1078992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0" dirty="0">
                <a:solidFill>
                  <a:srgbClr val="636D82"/>
                </a:solidFill>
                <a:latin typeface="Aptos"/>
              </a:rPr>
              <a:t>Research funding is one step in a much larger scientific workflow.</a:t>
            </a:r>
            <a:endParaRPr sz="1400" b="0" dirty="0">
              <a:solidFill>
                <a:srgbClr val="636D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E5F5C-3851-F6D9-CC6C-4C216E028757}"/>
              </a:ext>
            </a:extLst>
          </p:cNvPr>
          <p:cNvSpPr txBox="1"/>
          <p:nvPr/>
        </p:nvSpPr>
        <p:spPr>
          <a:xfrm>
            <a:off x="725821" y="2756858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1. Research Question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E3081D-B3CE-4228-B285-5BAAE184991D}"/>
              </a:ext>
            </a:extLst>
          </p:cNvPr>
          <p:cNvSpPr/>
          <p:nvPr/>
        </p:nvSpPr>
        <p:spPr>
          <a:xfrm>
            <a:off x="4457647" y="2543503"/>
            <a:ext cx="2316689" cy="711069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90527-A95B-2DC8-FCA6-AF5279950656}"/>
              </a:ext>
            </a:extLst>
          </p:cNvPr>
          <p:cNvSpPr txBox="1"/>
          <p:nvPr/>
        </p:nvSpPr>
        <p:spPr>
          <a:xfrm>
            <a:off x="4568163" y="2753847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2. Explore Existing Work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98D12-8E28-4A43-CE89-6B95EF9276C3}"/>
              </a:ext>
            </a:extLst>
          </p:cNvPr>
          <p:cNvSpPr txBox="1"/>
          <p:nvPr/>
        </p:nvSpPr>
        <p:spPr>
          <a:xfrm>
            <a:off x="8328555" y="2756858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3. Find Funding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132095-A197-CB3C-1EE5-10A4428E44D6}"/>
              </a:ext>
            </a:extLst>
          </p:cNvPr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B298AF-C8E9-B7A6-C9D1-C4A23E23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17" y="4666281"/>
            <a:ext cx="2356210" cy="67297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17D21E-09EA-3226-280F-3A13320463AE}"/>
              </a:ext>
            </a:extLst>
          </p:cNvPr>
          <p:cNvSpPr txBox="1"/>
          <p:nvPr/>
        </p:nvSpPr>
        <p:spPr>
          <a:xfrm>
            <a:off x="756009" y="4833642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4. Develop Proposal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9BF6D6-2918-9724-C65F-4EBEF11A00B6}"/>
              </a:ext>
            </a:extLst>
          </p:cNvPr>
          <p:cNvSpPr txBox="1"/>
          <p:nvPr/>
        </p:nvSpPr>
        <p:spPr>
          <a:xfrm>
            <a:off x="4568163" y="4866684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5. Conduct Research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12E130D-0DD6-6B43-6113-54655E6C4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0" y="4666281"/>
            <a:ext cx="2522905" cy="67297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9448447-9F29-9062-85CD-90E20D1608DE}"/>
              </a:ext>
            </a:extLst>
          </p:cNvPr>
          <p:cNvSpPr txBox="1"/>
          <p:nvPr/>
        </p:nvSpPr>
        <p:spPr>
          <a:xfrm>
            <a:off x="8403336" y="4833641"/>
            <a:ext cx="2898648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400" b="1" dirty="0">
                <a:solidFill>
                  <a:srgbClr val="182745"/>
                </a:solidFill>
                <a:latin typeface="Aptos"/>
              </a:rPr>
              <a:t>6. Publish &amp; Communicate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7932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82745"/>
                </a:solidFill>
                <a:latin typeface="Aptos"/>
              </a:rPr>
              <a:t>The data exists. The context is fragmented.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636D82"/>
                </a:solidFill>
                <a:latin typeface="Aptos"/>
              </a:rPr>
              <a:t>Three complementary sources answer different parts of the researcher's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799"/>
            <a:ext cx="3017520" cy="1371601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8408" y="20116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171699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182745"/>
                </a:solidFill>
                <a:latin typeface="Aptos"/>
              </a:rPr>
              <a:t>NSF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06624"/>
            <a:ext cx="2578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U.S. funded research
Historical awards and project abstracts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301752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78408" y="347472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3630168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182745"/>
                </a:solidFill>
                <a:latin typeface="Aptos"/>
              </a:rPr>
              <a:t>CORDIS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4169664"/>
            <a:ext cx="2578608" cy="4571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Horizon Europe funded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71999"/>
            <a:ext cx="3017520" cy="1433945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8408" y="4754880"/>
            <a:ext cx="502920" cy="109728"/>
          </a:xfrm>
          <a:prstGeom prst="roundRect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5" y="4911159"/>
            <a:ext cx="257860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182745"/>
                </a:solidFill>
                <a:latin typeface="Aptos"/>
              </a:rPr>
              <a:t>OpenAlex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" y="5449824"/>
            <a:ext cx="2578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Publication activity
Scientific momentum and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148840"/>
            <a:ext cx="6583680" cy="2331720"/>
          </a:xfrm>
          <a:prstGeom prst="roundRect">
            <a:avLst/>
          </a:prstGeom>
          <a:solidFill>
            <a:srgbClr val="F2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51460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182745"/>
                </a:solidFill>
                <a:latin typeface="Aptos"/>
              </a:rPr>
              <a:t>Where does my
research idea fit?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554337"/>
            <a:ext cx="5212080" cy="55399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0" dirty="0">
                <a:solidFill>
                  <a:srgbClr val="1E2739"/>
                </a:solidFill>
                <a:latin typeface="Aptos"/>
              </a:rPr>
              <a:t>GrantScope connects funding history with scientific activity instead of treating each source as an isolated dataset.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892040"/>
            <a:ext cx="160020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02352" y="4919472"/>
            <a:ext cx="145389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82745"/>
                </a:solidFill>
                <a:latin typeface="Aptos"/>
              </a:rPr>
              <a:t>funding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892040"/>
            <a:ext cx="178308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76872" y="4919472"/>
            <a:ext cx="163677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82745"/>
                </a:solidFill>
                <a:latin typeface="Aptos"/>
              </a:rPr>
              <a:t>scientific activity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4892040"/>
            <a:ext cx="17373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88552" y="4919472"/>
            <a:ext cx="159105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82745"/>
                </a:solidFill>
                <a:latin typeface="Aptos"/>
              </a:rPr>
              <a:t>research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82745"/>
                </a:solidFill>
                <a:latin typeface="Aptos"/>
              </a:rPr>
              <a:t>Building a trustworthy research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26855"/>
            <a:ext cx="1078992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636D82"/>
                </a:solidFill>
                <a:latin typeface="Aptos"/>
              </a:rPr>
              <a:t>The important work was deciding what to harmonize</a:t>
            </a:r>
            <a:r>
              <a:rPr lang="en-US" sz="1400" b="0" dirty="0">
                <a:solidFill>
                  <a:srgbClr val="636D82"/>
                </a:solidFill>
                <a:latin typeface="Aptos"/>
              </a:rPr>
              <a:t> </a:t>
            </a:r>
            <a:r>
              <a:rPr sz="1400" b="0" dirty="0">
                <a:solidFill>
                  <a:srgbClr val="636D82"/>
                </a:solidFill>
                <a:latin typeface="Aptos"/>
              </a:rPr>
              <a:t>and what not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2240280"/>
          </a:xfrm>
          <a:prstGeom prst="roundRect">
            <a:avLst/>
          </a:prstGeom>
          <a:solidFill>
            <a:srgbClr val="F2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26771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745"/>
                </a:solidFill>
                <a:latin typeface="Aptos"/>
              </a:rPr>
              <a:t>Acquire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24912"/>
            <a:ext cx="2084831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1E2739"/>
                </a:solidFill>
                <a:latin typeface="Aptos"/>
              </a:rPr>
              <a:t>NSF API
CORDIS bulk CSV
OpenAlex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392" y="26151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4" y="226771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745"/>
                </a:solidFill>
                <a:latin typeface="Aptos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724912"/>
            <a:ext cx="2084831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1E2739"/>
                </a:solidFill>
                <a:latin typeface="Aptos"/>
              </a:rPr>
              <a:t>deduplicate
normalize text
select funding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864" y="26151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26771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745"/>
                </a:solidFill>
                <a:latin typeface="Aptos"/>
              </a:rPr>
              <a:t>Harmonize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724912"/>
            <a:ext cx="2084831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1E2739"/>
                </a:solidFill>
                <a:latin typeface="Aptos"/>
              </a:rPr>
              <a:t>common grant schema
controlled topic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6151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26771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82745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724912"/>
            <a:ext cx="2084831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1E2739"/>
                </a:solidFill>
                <a:latin typeface="Aptos"/>
              </a:rPr>
              <a:t>quality rules
source checks
model catalogue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3100" b="1" dirty="0">
                <a:solidFill>
                  <a:srgbClr val="182745"/>
                </a:solidFill>
                <a:latin typeface="Aptos"/>
              </a:rPr>
              <a:t>3,339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074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636D82"/>
                </a:solidFill>
                <a:latin typeface="Aptos"/>
              </a:rPr>
              <a:t>integrated grants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709160"/>
            <a:ext cx="15087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16352" y="4736592"/>
            <a:ext cx="136245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2,664 NSF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709160"/>
            <a:ext cx="15087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4736592"/>
            <a:ext cx="1362456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2745"/>
                </a:solidFill>
                <a:latin typeface="Aptos"/>
              </a:rPr>
              <a:t>675 CORDIS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43484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84848" y="461772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03136" y="4818888"/>
            <a:ext cx="4133087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Deliberate data-quality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3136" y="5284617"/>
            <a:ext cx="4133087" cy="28469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1E2739"/>
                </a:solidFill>
                <a:latin typeface="Aptos"/>
              </a:rPr>
              <a:t>NSF remains USD; CORDIS remains EUR.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82745"/>
                </a:solidFill>
                <a:latin typeface="Aptos"/>
              </a:rPr>
              <a:t>From bootcamp concepts to one data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6D82"/>
                </a:solidFill>
                <a:latin typeface="Aptos"/>
              </a:rPr>
              <a:t>The skills became stages of a single end-to-end workflow.</a:t>
            </a:r>
          </a:p>
        </p:txBody>
      </p:sp>
      <p:sp>
        <p:nvSpPr>
          <p:cNvPr id="5" name="Oval 4"/>
          <p:cNvSpPr/>
          <p:nvPr/>
        </p:nvSpPr>
        <p:spPr>
          <a:xfrm>
            <a:off x="1014984" y="1920240"/>
            <a:ext cx="749808" cy="749808"/>
          </a:xfrm>
          <a:prstGeom prst="ellipse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4984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36D82"/>
                </a:solidFill>
                <a:latin typeface="Aptos"/>
              </a:rPr>
              <a:t>NSF + OpenAlex
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9696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916936" y="1920240"/>
            <a:ext cx="749808" cy="749808"/>
          </a:xfrm>
          <a:prstGeom prst="ellipse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16936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Python /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3396436"/>
            <a:ext cx="1755648" cy="43088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36D82"/>
                </a:solidFill>
                <a:latin typeface="Aptos"/>
              </a:rPr>
              <a:t>cleaning +
harmoni</a:t>
            </a:r>
            <a:r>
              <a:rPr lang="en-US" sz="1100" b="0" dirty="0">
                <a:solidFill>
                  <a:srgbClr val="636D82"/>
                </a:solidFill>
                <a:latin typeface="Aptos"/>
              </a:rPr>
              <a:t>z</a:t>
            </a:r>
            <a:r>
              <a:rPr sz="1100" b="0" dirty="0">
                <a:solidFill>
                  <a:srgbClr val="636D82"/>
                </a:solidFill>
                <a:latin typeface="Aptos"/>
              </a:rPr>
              <a:t>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818888" y="1920240"/>
            <a:ext cx="749808" cy="749808"/>
          </a:xfrm>
          <a:prstGeom prst="ellipse">
            <a:avLst/>
          </a:prstGeom>
          <a:solidFill>
            <a:srgbClr val="947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182745"/>
                </a:solidFill>
                <a:latin typeface="Aptos"/>
              </a:rPr>
              <a:t>EDA +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36D82"/>
                </a:solidFill>
                <a:latin typeface="Aptos"/>
              </a:rPr>
              <a:t>topic/source
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1920240"/>
            <a:ext cx="749808" cy="749808"/>
          </a:xfrm>
          <a:prstGeom prst="ellipse">
            <a:avLst/>
          </a:prstGeom>
          <a:solidFill>
            <a:srgbClr val="A4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ML /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81075"/>
            <a:ext cx="1755648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36D82"/>
                </a:solidFill>
                <a:latin typeface="Aptos"/>
              </a:rPr>
              <a:t>TF-IDF </a:t>
            </a:r>
            <a:r>
              <a:rPr lang="en-US" sz="1100" dirty="0">
                <a:solidFill>
                  <a:srgbClr val="636D82"/>
                </a:solidFill>
                <a:latin typeface="Aptos"/>
              </a:rPr>
              <a:t> text similarity</a:t>
            </a:r>
            <a:endParaRPr sz="1100" b="0" dirty="0">
              <a:solidFill>
                <a:srgbClr val="636D8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45552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622792" y="1920240"/>
            <a:ext cx="749808" cy="749808"/>
          </a:xfrm>
          <a:prstGeom prst="ellipse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22792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Tableau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36D82"/>
                </a:solidFill>
                <a:latin typeface="Aptos"/>
              </a:rPr>
              <a:t>funding
landscape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1396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10524744" y="1920240"/>
            <a:ext cx="749808" cy="749808"/>
          </a:xfrm>
          <a:prstGeom prst="ellipse">
            <a:avLst/>
          </a:prstGeom>
          <a:solidFill>
            <a:srgbClr val="BEA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24744" y="2084831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907792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45"/>
                </a:solidFill>
                <a:latin typeface="Aptos"/>
              </a:rPr>
              <a:t>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334670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36D82"/>
                </a:solidFill>
                <a:latin typeface="Aptos"/>
              </a:rPr>
              <a:t>decision-support
application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5532120"/>
            <a:ext cx="822960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39112" y="5590216"/>
            <a:ext cx="8083296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82745"/>
                </a:solidFill>
                <a:latin typeface="Aptos"/>
              </a:rPr>
              <a:t>The concepts became stages of one usable product</a:t>
            </a:r>
            <a:r>
              <a:rPr lang="en-US" sz="1200" b="1" dirty="0">
                <a:solidFill>
                  <a:srgbClr val="182745"/>
                </a:solidFill>
                <a:latin typeface="Aptos"/>
              </a:rPr>
              <a:t>, </a:t>
            </a:r>
            <a:r>
              <a:rPr sz="1200" b="1" dirty="0">
                <a:solidFill>
                  <a:srgbClr val="182745"/>
                </a:solidFill>
                <a:latin typeface="Aptos"/>
              </a:rPr>
              <a:t>not isolated demonstrations.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2700" b="1" dirty="0">
                <a:solidFill>
                  <a:srgbClr val="182745"/>
                </a:solidFill>
                <a:latin typeface="Aptos"/>
              </a:rPr>
              <a:t>One project. Two different use cases.</a:t>
            </a:r>
            <a:endParaRPr sz="2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636D82"/>
                </a:solidFill>
                <a:latin typeface="Aptos"/>
              </a:rPr>
              <a:t>The interface followed the analytical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4983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9848" y="205740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" y="2295031"/>
            <a:ext cx="4544568" cy="338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600" b="1" dirty="0">
                <a:solidFill>
                  <a:srgbClr val="182745"/>
                </a:solidFill>
              </a:rPr>
              <a:t>TABLEAU: Strategic Funding Landscape</a:t>
            </a:r>
            <a:endParaRPr sz="1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" y="3149694"/>
            <a:ext cx="4544568" cy="160043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en-US" sz="1400" dirty="0"/>
              <a:t>Designed for broader analysis and presentation: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Funding and research trends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Topic momentum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Leading organizations and programs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Cross-source landscape overview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 Executive/stakeholder presentations</a:t>
            </a:r>
            <a:endParaRPr lang="en-US" sz="1400" dirty="0"/>
          </a:p>
          <a:p>
            <a:pPr algn="l"/>
            <a:endParaRPr sz="1400" b="0" dirty="0">
              <a:solidFill>
                <a:srgbClr val="1E273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36792" y="1874519"/>
            <a:ext cx="4983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37959" y="205740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2295031"/>
            <a:ext cx="4544568" cy="338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600" b="1" dirty="0">
                <a:solidFill>
                  <a:srgbClr val="182745"/>
                </a:solidFill>
              </a:rPr>
              <a:t>STREAMLIT: Research Discovery Tool</a:t>
            </a:r>
            <a:endParaRPr sz="17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6248" y="3255145"/>
            <a:ext cx="4544568" cy="160043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400" dirty="0"/>
              <a:t>Designed for repeated researcher use: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Search from a research concept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Find comparable funded projects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Understand why projects matched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Identify organizations and programs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Shortlist and compare results</a:t>
            </a:r>
          </a:p>
          <a:p>
            <a:pPr algn="l"/>
            <a:endParaRPr sz="1400" b="0" dirty="0">
              <a:solidFill>
                <a:srgbClr val="1E273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2700" b="1" dirty="0">
                <a:solidFill>
                  <a:srgbClr val="182745"/>
                </a:solidFill>
                <a:latin typeface="Aptos"/>
              </a:rPr>
              <a:t>How does GrantScope find relevant research</a:t>
            </a:r>
            <a:r>
              <a:rPr sz="2700" b="1" dirty="0">
                <a:solidFill>
                  <a:srgbClr val="182745"/>
                </a:solidFill>
                <a:latin typeface="Aptos"/>
              </a:rPr>
              <a:t>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26855"/>
            <a:ext cx="1078992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en-US" sz="1400" dirty="0">
                <a:solidFill>
                  <a:srgbClr val="636D82"/>
                </a:solidFill>
              </a:rPr>
              <a:t>The application compares a research idea with previously funded projects and ranks the strongest matches</a:t>
            </a:r>
            <a:r>
              <a:rPr sz="1400" b="0" dirty="0">
                <a:solidFill>
                  <a:srgbClr val="636D82"/>
                </a:solidFill>
                <a:latin typeface="Aptos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877824" y="1874519"/>
            <a:ext cx="749808" cy="749808"/>
          </a:xfrm>
          <a:prstGeom prst="ellipse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78892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745"/>
                </a:solidFill>
                <a:latin typeface="Aptos"/>
              </a:rPr>
              <a:t>Research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16382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30" b="0">
                <a:solidFill>
                  <a:srgbClr val="636D82"/>
                </a:solidFill>
                <a:latin typeface="Aptos"/>
              </a:rPr>
              <a:t>User-entered scientific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825496" y="1874519"/>
            <a:ext cx="749808" cy="749808"/>
          </a:xfrm>
          <a:prstGeom prst="ellipse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25496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144" y="278892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>
                <a:solidFill>
                  <a:srgbClr val="182745"/>
                </a:solidFill>
                <a:latin typeface="Aptos"/>
              </a:rPr>
              <a:t>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316382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30" b="0" dirty="0">
                <a:solidFill>
                  <a:srgbClr val="636D82"/>
                </a:solidFill>
                <a:latin typeface="Aptos"/>
              </a:rPr>
              <a:t>Termi</a:t>
            </a:r>
            <a:r>
              <a:rPr lang="en-US" sz="1030" b="0" dirty="0">
                <a:solidFill>
                  <a:srgbClr val="636D82"/>
                </a:solidFill>
                <a:latin typeface="Aptos"/>
              </a:rPr>
              <a:t>nology + spelling</a:t>
            </a:r>
            <a:endParaRPr sz="1030" b="0" dirty="0">
              <a:solidFill>
                <a:srgbClr val="636D8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9352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773168" y="1874519"/>
            <a:ext cx="749808" cy="749808"/>
          </a:xfrm>
          <a:prstGeom prst="ellipse">
            <a:avLst/>
          </a:prstGeom>
          <a:solidFill>
            <a:srgbClr val="947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8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78892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745"/>
                </a:solidFill>
                <a:latin typeface="Aptos"/>
              </a:rPr>
              <a:t>TF-IDF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316382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30" b="0">
                <a:solidFill>
                  <a:srgbClr val="636D82"/>
                </a:solidFill>
                <a:latin typeface="Aptos"/>
              </a:rPr>
              <a:t>Weight distinctive terms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1874519"/>
            <a:ext cx="749808" cy="749808"/>
          </a:xfrm>
          <a:prstGeom prst="ellipse">
            <a:avLst/>
          </a:prstGeom>
          <a:solidFill>
            <a:srgbClr val="A4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808767"/>
            <a:ext cx="178308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400" b="1">
                <a:solidFill>
                  <a:srgbClr val="182745"/>
                </a:solidFill>
                <a:latin typeface="Aptos"/>
              </a:rPr>
              <a:t>Compare Projects</a:t>
            </a:r>
            <a:endParaRPr sz="14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90488" y="3163824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30" b="0" dirty="0">
                <a:solidFill>
                  <a:srgbClr val="636D82"/>
                </a:solidFill>
                <a:latin typeface="Aptos"/>
              </a:rPr>
              <a:t>Compare query to grants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20939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8463C7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668512" y="1874519"/>
            <a:ext cx="749808" cy="749808"/>
          </a:xfrm>
          <a:prstGeom prst="ellipse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68512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6184" y="2039112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9308" y="276012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182745"/>
                </a:solidFill>
                <a:latin typeface="Aptos"/>
              </a:rPr>
              <a:t>Rank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4343399"/>
            <a:ext cx="6446520" cy="1402773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207008" y="45262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25296" y="4727448"/>
            <a:ext cx="600760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Key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296" y="5221224"/>
            <a:ext cx="6007608" cy="29260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Keep TF-IDF as the transparent foundation, </a:t>
            </a:r>
            <a:r>
              <a:rPr lang="en-US" sz="1300" b="0" dirty="0">
                <a:solidFill>
                  <a:srgbClr val="1E2739"/>
                </a:solidFill>
                <a:latin typeface="Aptos"/>
              </a:rPr>
              <a:t>With keywords for project ranking. </a:t>
            </a:r>
            <a:endParaRPr sz="1300" b="0" dirty="0">
              <a:solidFill>
                <a:srgbClr val="1E2739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818120" y="4343400"/>
            <a:ext cx="3291840" cy="1402772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019288" y="4526280"/>
            <a:ext cx="502920" cy="109728"/>
          </a:xfrm>
          <a:prstGeom prst="roundRect">
            <a:avLst/>
          </a:prstGeom>
          <a:solidFill>
            <a:srgbClr val="B09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37576" y="4727448"/>
            <a:ext cx="28529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Important limitation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7576" y="5221224"/>
            <a:ext cx="2852928" cy="29260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1E2739"/>
                </a:solidFill>
                <a:latin typeface="Aptos"/>
              </a:rPr>
              <a:t>Relevance is not probability of funding.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DFAE6A-E65E-D9C8-A0F4-49AE04F8FB5C}"/>
              </a:ext>
            </a:extLst>
          </p:cNvPr>
          <p:cNvSpPr txBox="1"/>
          <p:nvPr/>
        </p:nvSpPr>
        <p:spPr>
          <a:xfrm>
            <a:off x="8343900" y="3116544"/>
            <a:ext cx="1783080" cy="4093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30" b="0">
                <a:solidFill>
                  <a:srgbClr val="636D82"/>
                </a:solidFill>
                <a:latin typeface="Aptos"/>
              </a:rPr>
              <a:t>Surface the strongest matches first</a:t>
            </a:r>
            <a:endParaRPr sz="1030" b="0" dirty="0">
              <a:solidFill>
                <a:srgbClr val="636D82"/>
              </a:solidFill>
              <a:latin typeface="Aptos"/>
            </a:endParaRPr>
          </a:p>
        </p:txBody>
      </p:sp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E1A4C969-94D0-E54B-FCBB-BEFABCF005D9}"/>
              </a:ext>
            </a:extLst>
          </p:cNvPr>
          <p:cNvSpPr/>
          <p:nvPr/>
        </p:nvSpPr>
        <p:spPr>
          <a:xfrm>
            <a:off x="2712720" y="6190488"/>
            <a:ext cx="6766560" cy="420624"/>
          </a:xfrm>
          <a:prstGeom prst="round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8A7C96-0139-86E7-8271-B2574C22AAF1}"/>
              </a:ext>
            </a:extLst>
          </p:cNvPr>
          <p:cNvSpPr txBox="1"/>
          <p:nvPr/>
        </p:nvSpPr>
        <p:spPr>
          <a:xfrm>
            <a:off x="2596896" y="6262300"/>
            <a:ext cx="6620256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82745"/>
                </a:solidFill>
                <a:latin typeface="Aptos"/>
              </a:rPr>
              <a:t>LIVE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4452"/>
            <a:ext cx="10789920" cy="5078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82745"/>
                </a:solidFill>
                <a:latin typeface="Aptos"/>
              </a:rPr>
              <a:t>Where could GrantScope go next?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33271"/>
            <a:ext cx="841248" cy="59436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6D82"/>
                </a:solidFill>
                <a:latin typeface="Aptos"/>
              </a:rPr>
              <a:t>The next version would move from historical orientation toward richer scientific and funding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606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6968" y="2011680"/>
            <a:ext cx="502920" cy="10972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212848"/>
            <a:ext cx="21671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Live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3013396"/>
            <a:ext cx="2167128" cy="101566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E2739"/>
                </a:solidFill>
                <a:latin typeface="Aptos"/>
              </a:rPr>
              <a:t>Integrate current grant calls, deadlines and eligibility.
Historical discovery</a:t>
            </a:r>
            <a:r>
              <a:rPr lang="en-US" sz="1200" b="0" dirty="0">
                <a:solidFill>
                  <a:srgbClr val="1E2739"/>
                </a:solidFill>
                <a:latin typeface="Aptos"/>
              </a:rPr>
              <a:t> to</a:t>
            </a:r>
            <a:r>
              <a:rPr sz="1200" b="0" dirty="0">
                <a:solidFill>
                  <a:srgbClr val="1E2739"/>
                </a:solidFill>
                <a:latin typeface="Aptos"/>
              </a:rPr>
              <a:t> actionable funding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606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75887" y="2011680"/>
            <a:ext cx="502920" cy="109728"/>
          </a:xfrm>
          <a:prstGeom prst="roundRect">
            <a:avLst/>
          </a:prstGeom>
          <a:solidFill>
            <a:srgbClr val="846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4176" y="2212848"/>
            <a:ext cx="21671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Scientific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2624328"/>
            <a:ext cx="2167128" cy="24231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E2739"/>
                </a:solidFill>
                <a:latin typeface="Aptos"/>
              </a:rPr>
              <a:t>Connect grants with publications, authors and research outputs.
Start with metadata/abstracts; full text raises licensing and paywall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2606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64807" y="2011680"/>
            <a:ext cx="502920" cy="109728"/>
          </a:xfrm>
          <a:prstGeom prst="roundRect">
            <a:avLst/>
          </a:prstGeom>
          <a:solidFill>
            <a:srgbClr val="A4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212848"/>
            <a:ext cx="21671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Semantic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3105834"/>
            <a:ext cx="2167128" cy="64633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200" b="0" dirty="0">
                <a:solidFill>
                  <a:srgbClr val="1E2739"/>
                </a:solidFill>
                <a:latin typeface="Aptos"/>
              </a:rPr>
              <a:t>Improve the model with sentence embeddings as an added feature.</a:t>
            </a:r>
            <a:endParaRPr sz="1200" b="0" dirty="0">
              <a:solidFill>
                <a:srgbClr val="1E2739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606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53728" y="2011680"/>
            <a:ext cx="502920" cy="109728"/>
          </a:xfrm>
          <a:prstGeom prst="roundRect">
            <a:avLst/>
          </a:prstGeom>
          <a:solidFill>
            <a:srgbClr val="BEA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72016" y="2212848"/>
            <a:ext cx="216712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45"/>
                </a:solidFill>
                <a:latin typeface="Aptos"/>
              </a:rPr>
              <a:t>Human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583180"/>
            <a:ext cx="2167128" cy="24231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E2739"/>
                </a:solidFill>
                <a:latin typeface="Aptos"/>
              </a:rPr>
              <a:t>Build a larger researcher-labelled relevance benchmark.
Evaluate whether domain experts consistently find the rankings useful.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96959"/>
            <a:ext cx="8503920" cy="3847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900" b="1">
                <a:solidFill>
                  <a:srgbClr val="182745"/>
                </a:solidFill>
                <a:latin typeface="Aptos"/>
              </a:rPr>
              <a:t>From historical context to current opportunities and future discovery</a:t>
            </a:r>
            <a:endParaRPr sz="1900" b="1" dirty="0">
              <a:solidFill>
                <a:srgbClr val="182745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92024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E1E5EF"/>
                </a:solidFill>
                <a:latin typeface="Aptos"/>
              </a:rP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40680" y="3657600"/>
            <a:ext cx="1325880" cy="64008"/>
          </a:xfrm>
          <a:prstGeom prst="roundRect">
            <a:avLst/>
          </a:prstGeom>
          <a:solidFill>
            <a:srgbClr val="75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01984" y="64282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36D82"/>
                </a:solidFill>
                <a:latin typeface="Aptos"/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51BDA-1F8F-0599-6995-E090ABCD101A}"/>
              </a:ext>
            </a:extLst>
          </p:cNvPr>
          <p:cNvSpPr txBox="1"/>
          <p:nvPr/>
        </p:nvSpPr>
        <p:spPr>
          <a:xfrm>
            <a:off x="4346658" y="442569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Kyle Haustein • </a:t>
            </a:r>
            <a:r>
              <a:rPr sz="1200" b="1" dirty="0" err="1">
                <a:solidFill>
                  <a:srgbClr val="FFFFFF"/>
                </a:solidFill>
                <a:latin typeface="Aptos"/>
              </a:rPr>
              <a:t>Ironhack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 Data Analytics Bootcamp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2966</TotalTime>
  <Words>724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Kyle Haustein</dc:creator>
  <cp:keywords/>
  <dc:description>generated using python-pptx</dc:description>
  <cp:lastModifiedBy>Kyle Haustein</cp:lastModifiedBy>
  <cp:revision>6</cp:revision>
  <dcterms:created xsi:type="dcterms:W3CDTF">2013-01-27T09:14:16Z</dcterms:created>
  <dcterms:modified xsi:type="dcterms:W3CDTF">2026-08-14T09:11:46Z</dcterms:modified>
  <cp:category/>
</cp:coreProperties>
</file>